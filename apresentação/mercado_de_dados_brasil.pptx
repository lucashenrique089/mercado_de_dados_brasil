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Distribuição por gênero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Gênero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B627"/>
              </a:solidFill>
              <a:effectLst/>
            </c:spPr>
          </c:dPt>
          <c:cat>
            <c:strRef>
              <c:f>Sheet1!$A$2:$A$4</c:f>
              <c:strCache>
                <c:ptCount val="3"/>
                <c:pt idx="0">
                  <c:v>Masculino</c:v>
                </c:pt>
                <c:pt idx="1">
                  <c:v>Feminino</c:v>
                </c:pt>
                <c:pt idx="2">
                  <c:v>Outro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2144</c:v>
                </c:pt>
                <c:pt idx="1">
                  <c:v>493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Cargos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Analista de Negócios/Business Analyst</c:v>
                </c:pt>
                <c:pt idx="1">
                  <c:v>Outro</c:v>
                </c:pt>
                <c:pt idx="2">
                  <c:v>Engenheiro de Dados/Data Engineer</c:v>
                </c:pt>
                <c:pt idx="3">
                  <c:v>Analista de Dados/Data Analyst</c:v>
                </c:pt>
                <c:pt idx="4">
                  <c:v>Analista de BI/BI Analyst/Analytics Engineer</c:v>
                </c:pt>
                <c:pt idx="5">
                  <c:v>Cientista de Dados/Data Scientist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</c:v>
                </c:pt>
                <c:pt idx="1">
                  <c:v>113</c:v>
                </c:pt>
                <c:pt idx="2">
                  <c:v>300</c:v>
                </c:pt>
                <c:pt idx="3">
                  <c:v>324</c:v>
                </c:pt>
                <c:pt idx="4">
                  <c:v>338</c:v>
                </c:pt>
                <c:pt idx="5">
                  <c:v>357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Júnior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Sudeste</c:v>
                </c:pt>
                <c:pt idx="1">
                  <c:v>Sul</c:v>
                </c:pt>
                <c:pt idx="2">
                  <c:v>Nordeste</c:v>
                </c:pt>
                <c:pt idx="3">
                  <c:v>Centro-oeste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33.1</c:v>
                </c:pt>
                <c:pt idx="1">
                  <c:v>31.9</c:v>
                </c:pt>
                <c:pt idx="2">
                  <c:v>42.6</c:v>
                </c:pt>
                <c:pt idx="3">
                  <c:v>29.4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Pleno</c:v>
                </c:pt>
              </c:strCache>
            </c:strRef>
          </c:tx>
          <c:spPr>
            <a:solidFill>
              <a:srgbClr val="6C8BC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Sudeste</c:v>
                </c:pt>
                <c:pt idx="1">
                  <c:v>Sul</c:v>
                </c:pt>
                <c:pt idx="2">
                  <c:v>Nordeste</c:v>
                </c:pt>
                <c:pt idx="3">
                  <c:v>Centro-oeste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34.7</c:v>
                </c:pt>
                <c:pt idx="1">
                  <c:v>40.7</c:v>
                </c:pt>
                <c:pt idx="2">
                  <c:v>35.4</c:v>
                </c:pt>
                <c:pt idx="3">
                  <c:v>28.7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Sênior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Sudeste</c:v>
                </c:pt>
                <c:pt idx="1">
                  <c:v>Sul</c:v>
                </c:pt>
                <c:pt idx="2">
                  <c:v>Nordeste</c:v>
                </c:pt>
                <c:pt idx="3">
                  <c:v>Centro-oeste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32.2</c:v>
                </c:pt>
                <c:pt idx="1">
                  <c:v>27.5</c:v>
                </c:pt>
                <c:pt idx="2">
                  <c:v>22.1</c:v>
                </c:pt>
                <c:pt idx="3">
                  <c:v>42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F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Modelo de trabalho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100% Remoto</c:v>
                </c:pt>
                <c:pt idx="1">
                  <c:v>Híbrido flexível</c:v>
                </c:pt>
                <c:pt idx="2">
                  <c:v>100% Presencial</c:v>
                </c:pt>
                <c:pt idx="3">
                  <c:v>Não informado</c:v>
                </c:pt>
                <c:pt idx="4">
                  <c:v>Híbrido c/ dias fixos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1335</c:v>
                </c:pt>
                <c:pt idx="1">
                  <c:v>461</c:v>
                </c:pt>
                <c:pt idx="2">
                  <c:v>328</c:v>
                </c:pt>
                <c:pt idx="3">
                  <c:v>280</c:v>
                </c:pt>
                <c:pt idx="4">
                  <c:v>241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Linguagens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SAS/Stata</c:v>
                </c:pt>
                <c:pt idx="1">
                  <c:v>Scala</c:v>
                </c:pt>
                <c:pt idx="2">
                  <c:v>VBA</c:v>
                </c:pt>
                <c:pt idx="3">
                  <c:v>JavaScript</c:v>
                </c:pt>
                <c:pt idx="4">
                  <c:v>Java</c:v>
                </c:pt>
                <c:pt idx="5">
                  <c:v>R</c:v>
                </c:pt>
                <c:pt idx="6">
                  <c:v>Python</c:v>
                </c:pt>
                <c:pt idx="7">
                  <c:v>SQL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77</c:v>
                </c:pt>
                <c:pt idx="1">
                  <c:v>89</c:v>
                </c:pt>
                <c:pt idx="2">
                  <c:v>160</c:v>
                </c:pt>
                <c:pt idx="3">
                  <c:v>174</c:v>
                </c:pt>
                <c:pt idx="4">
                  <c:v>223</c:v>
                </c:pt>
                <c:pt idx="5">
                  <c:v>306</c:v>
                </c:pt>
                <c:pt idx="6">
                  <c:v>1346</c:v>
                </c:pt>
                <c:pt idx="7">
                  <c:v>1487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Cloud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Cloud própria</c:v>
                </c:pt>
                <c:pt idx="1">
                  <c:v>On-premise</c:v>
                </c:pt>
                <c:pt idx="2">
                  <c:v>Google Cloud</c:v>
                </c:pt>
                <c:pt idx="3">
                  <c:v>Azure</c:v>
                </c:pt>
                <c:pt idx="4">
                  <c:v>AWS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149</c:v>
                </c:pt>
                <c:pt idx="1">
                  <c:v>433</c:v>
                </c:pt>
                <c:pt idx="2">
                  <c:v>448</c:v>
                </c:pt>
                <c:pt idx="3">
                  <c:v>498</c:v>
                </c:pt>
                <c:pt idx="4">
                  <c:v>786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</c:v>
                </c:pt>
              </c:strCache>
            </c:strRef>
          </c:tx>
          <c:spPr>
            <a:solidFill>
              <a:srgbClr val="FFB6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Nenhuma</c:v>
                </c:pt>
                <c:pt idx="1">
                  <c:v>Só Excel</c:v>
                </c:pt>
                <c:pt idx="2">
                  <c:v>Google Data Studio</c:v>
                </c:pt>
                <c:pt idx="3">
                  <c:v>Tableau</c:v>
                </c:pt>
                <c:pt idx="4">
                  <c:v>Power BI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208</c:v>
                </c:pt>
                <c:pt idx="1">
                  <c:v>223</c:v>
                </c:pt>
                <c:pt idx="2">
                  <c:v>334</c:v>
                </c:pt>
                <c:pt idx="3">
                  <c:v>335</c:v>
                </c:pt>
                <c:pt idx="4">
                  <c:v>974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DE DADOS &amp; ANALYTICS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Mercado de Dados no Brasil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para orientar a estratégia de contratação, capacitação 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em Dados, Analytics e Inteligência Artificial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na pesquisa State of Data Brasil 2021 (Data Hackers)  ·  N = 2.645 profissionais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ESTUDO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este panorama importa agora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Instituição Financeira de grande porte planeja expandir sua área de Dados, Analytics e Inteligência Artificial. Antes de definir contratações, capacitação e investimentos em tecnologia, é preciso entender o cenário atual do profissional de dados no Brasil.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material resume os principais achados extraídos e tratados via AWS (S3, Glue e Athena), a partir da pesquisa State of Data Brasil, conduzida pela comunidade Data Hackers.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86600" y="160020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764792"/>
            <a:ext cx="3703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2.645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42224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de dados respondentes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086600" y="333756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223760" y="3502152"/>
            <a:ext cx="3703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415960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brasileiros representados na amostra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086600" y="507492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223760" y="5239512"/>
            <a:ext cx="3703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589696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da pesquisa State of Data Brasil analisada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DEMOGRÁFICO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o profissional de dados no Brasil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56232"/>
            <a:ext cx="2057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8716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média (anos)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3364992"/>
            <a:ext cx="2057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99592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mediana (anos)</a:t>
            </a:r>
            <a:endParaRPr lang="en-US" sz="11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246120" y="1600200"/>
          <a:ext cx="4846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8458200" y="1600200"/>
            <a:ext cx="3200400" cy="32004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0" y="18288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81,1%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ADCFC"/>
                </a:solidFill>
              </a:rPr>
              <a:t>dos profissionais se identificam como homens.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B627"/>
                </a:solidFill>
              </a:rPr>
              <a:t>18,6%</a:t>
            </a:r>
            <a:endParaRPr lang="en-US" sz="26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se identificam como mulheres — uma lacuna de</a:t>
            </a:r>
            <a:endParaRPr lang="en-US" sz="26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representatividade relevante para metas de</a:t>
            </a:r>
            <a:endParaRPr lang="en-US" sz="26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diversidade.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PROFISSIONAIS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Cargos mais comuns na área de dados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funções entre os respondentes — sinaliza onde o mercado mais concentra vagas e talentos hoje.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11064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GEOGRÁFICA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Senioridade varia bastante por região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Júnior / Pleno / Sênior dentro de cada região (somente respondentes empregados, com senioridade informada).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TRABALHO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trabalho remoto é a nova regra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858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00200"/>
            <a:ext cx="3977640" cy="44805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09560" y="1874520"/>
            <a:ext cx="3520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B627"/>
                </a:solidFill>
              </a:rPr>
              <a:t>67,9%</a:t>
            </a:r>
            <a:endParaRPr lang="en-US" sz="3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CADCFC"/>
                </a:solidFill>
              </a:rPr>
              <a:t>trabalham em regime 100% remoto ou híbrido flexível.</a:t>
            </a:r>
            <a:endParaRPr lang="en-US" sz="3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Implicação estratégica: </a:t>
            </a:r>
            <a:endParaRPr lang="en-US" sz="34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contratar sem restrição geográfica amplia muito o acesso a talentos qualificados fora dos grandes centros.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· LINGUAGENS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e Python dominam o dia a dia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de programação utilizadas no trabalho (múltipla escolha).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11064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· CLOUD &amp; BI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de nuvem e ferramentas de BI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Provedores de cloud utilizados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BI utilizadas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178308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Adoção de IA: um retrato ainda incompleto em 2021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2926080"/>
          </a:xfrm>
          <a:prstGeom prst="roundRect">
            <a:avLst>
              <a:gd name="adj" fmla="val 3750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B627"/>
                </a:solidFill>
              </a:rPr>
              <a:t>6%</a:t>
            </a:r>
            <a:endParaRPr lang="en-US" sz="4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(159 pessoas) se declaram gestores responsáveis por iniciativas de IA/Machine Learning.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965960"/>
            <a:ext cx="7406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 pesquisa 2021 não trouxe uma seção dedicada à adoção de IA no dia a dia — reflexo do momento: o boom de IA generativa só ganhou escala a partir de 2022/2023.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B627"/>
                </a:solidFill>
              </a:rPr>
              <a:t>Recomendação: 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</a:rPr>
              <a:t>para responder com profundidade ao índice de adoção de IA e seu impacto, os próximos passos deste projeto incluem ingerir uma edição mais recente da pesquisa (2023/2024) — o que também atende à exigência do desafio de comparar as 3 últimas edições disponíveis.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ESTRATÉGICAS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significa para a Instituição Financeira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58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 sem fronteiras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8775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67,9% da área já trabalha remoto/híbrido — abrir vagas fora dos grandes centros amplia o acesso a talento qualificado.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456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258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 Python como base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58775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linguagens mais usadas do mercado devem ser critério obrigatório em processos seletivos técnicos.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258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 diversidade de gênero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58775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são 18,6% da amostra — programas de atração e retenção femininas reduzem esse gap e ampliam o pool de talentos.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931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 como polo júnior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365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42,6% dos profissionais da região são júnior — oportunidade de formar talento novo a um custo de entrada menor.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7490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3931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4456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stack de nuvem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7365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lidera, mas Azure e GCP têm adoção relevante — vale mapear qual stack o time interno já domina antes de decidir a arquitetura.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7490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9328" y="3931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3932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Aprofundar o tema IA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7365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Trazer uma edição mais recente da pesquisa é o próximo passo para medir maturidade e impacto de IA generativa.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6517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520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e discussão sobre os próximos passos do projeto de Dados &amp; Analytics.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Brasil 2021 · Data Hackers  ·  Pipeline: AWS S3 → Glue → Athena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2026-09-13T20:54:19Z</dcterms:created>
  <dcterms:modified xsi:type="dcterms:W3CDTF">2026-09-13T20:54:19Z</dcterms:modified>
</cp:coreProperties>
</file>